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054" r:id="rId2"/>
  </p:sldIdLst>
  <p:sldSz cx="12192000" cy="6858000"/>
  <p:notesSz cx="6858000" cy="9144000"/>
  <p:defaultTextStyle>
    <a:defPPr>
      <a:defRPr lang="en-001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95"/>
    <p:restoredTop sz="77316"/>
  </p:normalViewPr>
  <p:slideViewPr>
    <p:cSldViewPr snapToGrid="0">
      <p:cViewPr varScale="1">
        <p:scale>
          <a:sx n="83" d="100"/>
          <a:sy n="83" d="100"/>
        </p:scale>
        <p:origin x="1192" y="200"/>
      </p:cViewPr>
      <p:guideLst/>
    </p:cSldViewPr>
  </p:slideViewPr>
  <p:notesTextViewPr>
    <p:cViewPr>
      <p:scale>
        <a:sx n="1" d="1"/>
        <a:sy n="1" d="1"/>
      </p:scale>
      <p:origin x="0" y="-1232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BDF21A-4BCA-4638-9C8F-6054D41A5034}" type="datetimeFigureOut">
              <a:rPr lang="en-001" smtClean="0"/>
              <a:t>12/9/25</a:t>
            </a:fld>
            <a:endParaRPr lang="en-001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001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BAEFC4-BF66-48FB-A21D-1FC90713B742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7178895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3E214-9DE0-99F0-D683-A7A5F479A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B343D51-8EE2-C53B-4A69-23CEDB351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6F0B95-BE7B-0044-848E-F4F3E188CA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I want to introduce a key idea in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land surface modeling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difference between the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“Big Leaf”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approach and the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“Big Tree”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approach. This distinction really shapes how we simulate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carbon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movement through ecosystems, which is important for understanding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droughts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agriculture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climate change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can think of a plant as a machine that moves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the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soil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up through its body and releases it into the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atmosphere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while taking in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carbon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the air to grow. To represent this process, scientists use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computer models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but how much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detail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those models include can change the results significantly.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 traditional land surface models, like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Noah-MP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use the “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 Leaf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 concept. In this approach, we imagine the entire plant canopy as one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giant leaf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that big leaf responds directly to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soil moisture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without representing the plant’s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 structure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It doesn’t capture things like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stems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roots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or detailed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hydraulics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instead relies on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empirical formulas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—essentially rules of thumb—to estimate water loss and carbon uptake. The problem is that this simplification introduces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uncertainty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especially during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droughts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other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extreme conditions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“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 Tree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 concept takes a much more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realistic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approach. Models like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Noah-MP-PHS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include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whole-plant hydraulics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meaning they track water as it moves from the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soil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through the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roots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up the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into the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leaves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This framework includes physical properties like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root conductance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stem capacitance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sap flow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all of which describe how water moves and is stored inside the plant. By modeling the full hydraulic pathway, the Big Tree approach reduces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uncertainty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gives us a clearer picture of how plants respond to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stress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test whether this new approach performs better, we use data from a real ecosystem site,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US-Syv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which provides detailed measurements of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carbon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exchange. We run both models—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Noah-MP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Noah-MP-PHS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—and compare their outputs to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observed data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using several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metrics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across different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timescales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This comparison helps us determine whether the Big Tree model truly represents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reality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more accurately.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why does any of this matter? Understanding how plants interact with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essential for predicting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drought impacts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improving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agricultural management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producing better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climate forecasts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 model that incorporates realistic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plant hydraulics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dramatically reduce simulation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improve our ability to predict what’s happening in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nature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That’s the big picture. The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 Leaf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 offers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simplicity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but at the cost of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accuracy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 Tree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 provides a more complete representation of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plant water transport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which can make a meaningful difference in forecasting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ecosystem behavior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I’m happy to take any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you might have!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A74E3C-2C7C-F6B4-B1E1-40E097BEAF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E565E9-053B-4EFD-9589-E40A82B2D32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3322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CCADB-4FC6-4D25-9C7A-66E93D51DC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1E78D1-3CCF-46E3-862C-72DCC29C5A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C7223-2485-4FCE-A9BE-DF0850855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A20B3-C5FA-4FED-B365-CC7D1EAD6AE8}" type="datetimeFigureOut">
              <a:rPr lang="en-001" smtClean="0"/>
              <a:t>12/9/25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57956E-8300-44BB-9480-1C6093FA7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A3B0D-1B9E-4163-84EF-B36B22908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4C5AB-05AB-4A8B-BC4F-217D67E2D19D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014684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F2F1C-CDCE-4B9D-972F-AD59CD1B8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770AB-77D1-41F4-BEA3-EC19B8D55D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B5645-7F0C-434E-9495-2FDB627B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A20B3-C5FA-4FED-B365-CC7D1EAD6AE8}" type="datetimeFigureOut">
              <a:rPr lang="en-001" smtClean="0"/>
              <a:t>12/9/25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99536-1515-4336-895B-66CE8DF2E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EF233-1F20-443B-8FC7-2D7F10544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4C5AB-05AB-4A8B-BC4F-217D67E2D19D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237286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01E68-1D06-4621-820C-A848C0F4A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6B1444-9EAA-45D3-B4CF-DF94D98A2E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0BB36-9D57-438E-98EB-9253C3A06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A20B3-C5FA-4FED-B365-CC7D1EAD6AE8}" type="datetimeFigureOut">
              <a:rPr lang="en-001" smtClean="0"/>
              <a:t>12/9/25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8A5CAD-7227-42D8-95F5-BBC50DFD8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FAEB3B-CF09-4589-BFF7-0C2B384F1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4C5AB-05AB-4A8B-BC4F-217D67E2D19D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2850664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A9A91-B98F-43AA-BC91-3C007D3A7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351FE-2ED2-444F-99D7-5B4286F91F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DF072B-4E24-4E07-9655-9CAFB445B3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C15A50-5299-474E-875E-DA95B1727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A20B3-C5FA-4FED-B365-CC7D1EAD6AE8}" type="datetimeFigureOut">
              <a:rPr lang="en-001" smtClean="0"/>
              <a:t>12/9/25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6F19BF-D588-43D6-AD40-C606FAD18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888583-1214-4A04-90C6-E496B8896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4C5AB-05AB-4A8B-BC4F-217D67E2D19D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669224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56751-5145-4FD7-929B-5A46F3DE4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8FAA72-45EB-4BD1-B13C-AD174AE56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D00798-F8E2-47AD-B3D6-CBE9AD6D73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7C0032-2989-40E2-A134-2C1E7B5742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80970D-1086-466C-AD37-E443497077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C64EEF-AA13-41D7-9AEA-D39717638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A20B3-C5FA-4FED-B365-CC7D1EAD6AE8}" type="datetimeFigureOut">
              <a:rPr lang="en-001" smtClean="0"/>
              <a:t>12/9/25</a:t>
            </a:fld>
            <a:endParaRPr lang="en-001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7C3BA8-922D-4391-9EC8-CD564B584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1BD081-2825-4600-9DBA-45C97E3B2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4C5AB-05AB-4A8B-BC4F-217D67E2D19D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34348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84D99-A789-4E8A-A3EF-A1F496003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484265-44D4-4337-A30F-1663D9EE9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A20B3-C5FA-4FED-B365-CC7D1EAD6AE8}" type="datetimeFigureOut">
              <a:rPr lang="en-001" smtClean="0"/>
              <a:t>12/9/25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2748B9-A95A-42EB-9F27-EA14CFB32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D6C95F-E663-429F-BEAF-38D5494A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4C5AB-05AB-4A8B-BC4F-217D67E2D19D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121107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1AC135-93C6-43FE-AB7F-E5356D09B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A20B3-C5FA-4FED-B365-CC7D1EAD6AE8}" type="datetimeFigureOut">
              <a:rPr lang="en-001" smtClean="0"/>
              <a:t>12/9/25</a:t>
            </a:fld>
            <a:endParaRPr lang="en-00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D17541-52C3-409B-9D32-8FA4642BC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F4CD4-8874-4F35-ABEA-EDA718CE9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4C5AB-05AB-4A8B-BC4F-217D67E2D19D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48852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9CEF-D83E-4504-B8C2-925C71C66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53948-E998-4983-82C3-CEE1DBEB15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8C9BEA-C551-4DC2-8E28-4F8C9D6721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1AC6E8-C72C-46FB-9361-2C0CBD2AF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A20B3-C5FA-4FED-B365-CC7D1EAD6AE8}" type="datetimeFigureOut">
              <a:rPr lang="en-001" smtClean="0"/>
              <a:t>12/9/25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6DD233-C405-4503-AB3C-1322AE453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EFFCAF-E726-4D94-8882-DEAC4082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4C5AB-05AB-4A8B-BC4F-217D67E2D19D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92557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129C5-E9DD-4DBE-B15C-47B291DDB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42D1B4-1FF5-44D7-B878-08B0D074F5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2BA441-BDCD-4C8E-80A1-EE137D7E1F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EC2C5D-D677-454F-873B-38030D1B3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A20B3-C5FA-4FED-B365-CC7D1EAD6AE8}" type="datetimeFigureOut">
              <a:rPr lang="en-001" smtClean="0"/>
              <a:t>12/9/25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5D3525-A687-4C45-BAC6-7A3C4C54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890C69-BCCF-4025-862B-E2CCEDEAB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4C5AB-05AB-4A8B-BC4F-217D67E2D19D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735937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45DA9-3604-4A11-B370-4F5B24064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F14579-A7E4-4B05-90FD-3EE71AE316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37702-7EE1-44F9-8956-23298AB11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A20B3-C5FA-4FED-B365-CC7D1EAD6AE8}" type="datetimeFigureOut">
              <a:rPr lang="en-001" smtClean="0"/>
              <a:t>12/9/25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B16B1B-AAB8-48DC-A350-0FCD4D159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2B628-8559-42D0-B899-A4D512E84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4C5AB-05AB-4A8B-BC4F-217D67E2D19D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722873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95FDF5-BAB1-466F-BFE0-31E3253A85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F1141E-22CC-4936-8026-63088F01F0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45C60C-383C-439A-BC80-43600C965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A20B3-C5FA-4FED-B365-CC7D1EAD6AE8}" type="datetimeFigureOut">
              <a:rPr lang="en-001" smtClean="0"/>
              <a:t>12/9/25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EA71AB-D6AC-4167-8567-0E67E751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A4394-FB28-4E43-8EC4-A4074052A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4C5AB-05AB-4A8B-BC4F-217D67E2D19D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1574369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22DE37F-B1F7-CA99-94BE-898DDBAF5EAA}"/>
              </a:ext>
            </a:extLst>
          </p:cNvPr>
          <p:cNvSpPr/>
          <p:nvPr userDrawn="1"/>
        </p:nvSpPr>
        <p:spPr>
          <a:xfrm>
            <a:off x="0" y="6230983"/>
            <a:ext cx="12192000" cy="627018"/>
          </a:xfrm>
          <a:prstGeom prst="rect">
            <a:avLst/>
          </a:prstGeom>
          <a:solidFill>
            <a:srgbClr val="BF5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0D3F61-0BF9-6584-A408-5FEFD6A14468}"/>
              </a:ext>
            </a:extLst>
          </p:cNvPr>
          <p:cNvSpPr/>
          <p:nvPr userDrawn="1"/>
        </p:nvSpPr>
        <p:spPr>
          <a:xfrm>
            <a:off x="0" y="842389"/>
            <a:ext cx="12175031" cy="72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86000">
                <a:srgbClr val="DE5800"/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FEE682-EE8E-A30C-92B3-DD7A861A80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3800" y="122389"/>
            <a:ext cx="1280000" cy="72000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187F9068-3DB0-3895-35C9-A2582A603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200" y="2420"/>
            <a:ext cx="10522828" cy="8921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ct val="80000"/>
              </a:lnSpc>
            </a:pPr>
            <a:r>
              <a:rPr lang="en-US" altLang="en-US" sz="4000" dirty="0"/>
              <a:t>Click to edit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9ACF3C9-00F4-011D-D77A-B42688A276BF}"/>
              </a:ext>
            </a:extLst>
          </p:cNvPr>
          <p:cNvSpPr>
            <a:spLocks noGrp="1"/>
          </p:cNvSpPr>
          <p:nvPr>
            <p:ph idx="4294967295" hasCustomPrompt="1"/>
          </p:nvPr>
        </p:nvSpPr>
        <p:spPr>
          <a:xfrm>
            <a:off x="829715" y="994393"/>
            <a:ext cx="10515600" cy="51909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indent="0">
              <a:buNone/>
            </a:pPr>
            <a:r>
              <a:rPr lang="en-US" altLang="zh-CN" sz="2400" dirty="0"/>
              <a:t>Motivation:</a:t>
            </a:r>
            <a:endParaRPr lang="en-CA" altLang="zh-CN" sz="2400" dirty="0"/>
          </a:p>
          <a:p>
            <a:r>
              <a:rPr lang="en-US" altLang="zh-CN" sz="2000" dirty="0"/>
              <a:t>Learning Noah-MP</a:t>
            </a:r>
          </a:p>
          <a:p>
            <a:endParaRPr lang="en-US" altLang="zh-CN" sz="2000" dirty="0"/>
          </a:p>
          <a:p>
            <a:pPr marL="0" indent="0">
              <a:buNone/>
            </a:pPr>
            <a:r>
              <a:rPr lang="en-US" altLang="zh-CN" sz="2400" dirty="0"/>
              <a:t>Objective:</a:t>
            </a:r>
          </a:p>
          <a:p>
            <a:r>
              <a:rPr lang="en-US" altLang="zh-CN" sz="2000" dirty="0"/>
              <a:t>Know the basic code structure of the Noah-MP model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35712DC1-8688-11E0-38E6-3B334ABF9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6CF1658-1EAF-46A5-A5D4-6278699F13B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184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C0FED9-94A7-4071-84ED-0185B1386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EC98A8-0E19-4885-9822-56FA87D6B4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A64C06-C890-41FA-9BF4-BF59E3C98E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9A20B3-C5FA-4FED-B365-CC7D1EAD6AE8}" type="datetimeFigureOut">
              <a:rPr lang="en-001" smtClean="0"/>
              <a:t>12/9/25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68CD8-53D5-4D44-898C-AC88426EE7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3D8E6-2A38-49A2-B7C2-B3D506FA0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04C5AB-05AB-4A8B-BC4F-217D67E2D19D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47682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001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3CD28-E2C3-EDC7-BDBA-61D2B0A8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diagram of a system&#10;&#10;AI-generated content may be incorrect.">
            <a:extLst>
              <a:ext uri="{FF2B5EF4-FFF2-40B4-BE49-F238E27FC236}">
                <a16:creationId xmlns:a16="http://schemas.microsoft.com/office/drawing/2014/main" id="{349B0F45-ACB7-0EEB-7707-E1EAF26802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1604" y="1316536"/>
            <a:ext cx="3760396" cy="4130412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3F4EC6FC-63E4-3AC5-7122-58900DBAA96B}"/>
              </a:ext>
            </a:extLst>
          </p:cNvPr>
          <p:cNvSpPr>
            <a:spLocks noGrp="1"/>
          </p:cNvSpPr>
          <p:nvPr/>
        </p:nvSpPr>
        <p:spPr>
          <a:xfrm>
            <a:off x="1257935" y="262694"/>
            <a:ext cx="9676130" cy="685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rgbClr val="012A65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</a:lstStyle>
          <a:p>
            <a:pPr>
              <a:lnSpc>
                <a:spcPct val="80000"/>
              </a:lnSpc>
            </a:pPr>
            <a:r>
              <a:rPr lang="en-US" altLang="zh-CN" sz="3200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“Big Leaf” vs. “Big Tree”:</a:t>
            </a:r>
          </a:p>
          <a:p>
            <a:pPr>
              <a:lnSpc>
                <a:spcPct val="80000"/>
              </a:lnSpc>
            </a:pPr>
            <a:r>
              <a:rPr lang="en-US" altLang="zh-CN" sz="3200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Does the Big Tree model better represent reality?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957A16-BAF3-6F38-ABB1-68FBE6EC96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48108" y="1302490"/>
            <a:ext cx="4911557" cy="347787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F6D389-FF08-4227-CB2B-37870C945800}"/>
              </a:ext>
            </a:extLst>
          </p:cNvPr>
          <p:cNvSpPr txBox="1"/>
          <p:nvPr/>
        </p:nvSpPr>
        <p:spPr>
          <a:xfrm>
            <a:off x="2699269" y="4729956"/>
            <a:ext cx="376039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Difference between the “Big </a:t>
            </a:r>
            <a:r>
              <a:rPr lang="en-US" sz="1100" b="0" i="0" dirty="0">
                <a:effectLst/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leaf</a:t>
            </a:r>
            <a:r>
              <a:rPr lang="en-US" altLang="zh-CN" sz="1100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” and “Big tree” approach (extracted from Li et al., </a:t>
            </a:r>
            <a:r>
              <a:rPr lang="en-US" sz="1100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2021</a:t>
            </a:r>
            <a:r>
              <a:rPr lang="en-US" altLang="zh-CN" sz="1100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).</a:t>
            </a:r>
            <a:endParaRPr lang="en-US" sz="1100" dirty="0"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2D4E7-E919-FA2D-2EA6-BD84EFEA7906}"/>
              </a:ext>
            </a:extLst>
          </p:cNvPr>
          <p:cNvSpPr txBox="1"/>
          <p:nvPr/>
        </p:nvSpPr>
        <p:spPr>
          <a:xfrm>
            <a:off x="-1" y="1430015"/>
            <a:ext cx="222084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“Big Leaf”</a:t>
            </a:r>
          </a:p>
          <a:p>
            <a:r>
              <a:rPr lang="en-US" altLang="zh-CN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Soil moisture</a:t>
            </a:r>
            <a:endParaRPr lang="en-US" altLang="zh-CN" dirty="0"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Wingdings" pitchFamily="2" charset="2"/>
            </a:endParaRPr>
          </a:p>
          <a:p>
            <a:endParaRPr lang="en-US" altLang="zh-CN" dirty="0"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Wingdings" pitchFamily="2" charset="2"/>
            </a:endParaRPr>
          </a:p>
          <a:p>
            <a:r>
              <a:rPr lang="en-US" altLang="zh-CN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Wingdings" pitchFamily="2" charset="2"/>
              </a:rPr>
              <a:t></a:t>
            </a:r>
          </a:p>
          <a:p>
            <a:r>
              <a:rPr lang="en-US" altLang="zh-CN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Carbon, water, energy simulations</a:t>
            </a:r>
          </a:p>
          <a:p>
            <a:endParaRPr lang="en-US" altLang="zh-CN" dirty="0"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Wingdings" pitchFamily="2" charset="2"/>
            </a:endParaRPr>
          </a:p>
          <a:p>
            <a:r>
              <a:rPr lang="en-US" altLang="zh-CN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US" altLang="zh-CN" dirty="0"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r>
              <a:rPr lang="en-US" altLang="zh-CN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Uncertainties</a:t>
            </a:r>
            <a:endParaRPr lang="en-US" dirty="0"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1D9BEE-E559-FBBC-B85D-34F6BFEAD905}"/>
              </a:ext>
            </a:extLst>
          </p:cNvPr>
          <p:cNvSpPr txBox="1"/>
          <p:nvPr/>
        </p:nvSpPr>
        <p:spPr>
          <a:xfrm>
            <a:off x="6499820" y="1430015"/>
            <a:ext cx="236841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“Big Tree”</a:t>
            </a:r>
          </a:p>
          <a:p>
            <a:endParaRPr lang="en-US" altLang="zh-CN" dirty="0"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r>
              <a:rPr lang="en-US" altLang="zh-CN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Soil moisture</a:t>
            </a:r>
          </a:p>
          <a:p>
            <a:r>
              <a:rPr lang="en-US" altLang="zh-CN" b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&lt;add&gt; whole-plant hydraulics</a:t>
            </a:r>
            <a:endParaRPr lang="en-US" altLang="zh-CN" b="1" dirty="0"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Wingdings" pitchFamily="2" charset="2"/>
            </a:endParaRPr>
          </a:p>
          <a:p>
            <a:r>
              <a:rPr lang="en-US" altLang="zh-CN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Wingdings" pitchFamily="2" charset="2"/>
              </a:rPr>
              <a:t></a:t>
            </a:r>
          </a:p>
          <a:p>
            <a:r>
              <a:rPr lang="en-US" altLang="zh-CN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Carbon, water, energy simulations</a:t>
            </a:r>
          </a:p>
          <a:p>
            <a:endParaRPr lang="en-US" altLang="zh-CN" dirty="0"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Wingdings" pitchFamily="2" charset="2"/>
            </a:endParaRPr>
          </a:p>
          <a:p>
            <a:r>
              <a:rPr lang="en-US" altLang="zh-CN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US" altLang="zh-CN" dirty="0"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r>
              <a:rPr lang="en-US" altLang="zh-CN" b="1" dirty="0"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Uncertainties expect to reduce</a:t>
            </a:r>
            <a:endParaRPr lang="en-US" b="1" dirty="0"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B6ADAD-0FA3-8E6F-D974-9BBBE8C25460}"/>
              </a:ext>
            </a:extLst>
          </p:cNvPr>
          <p:cNvSpPr txBox="1"/>
          <p:nvPr/>
        </p:nvSpPr>
        <p:spPr>
          <a:xfrm>
            <a:off x="0" y="5031448"/>
            <a:ext cx="222084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Most land surface models, e.g.,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Noah-MP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0E2EFAD-0851-2E31-6232-E0952F395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t>1</a:t>
            </a:fld>
            <a:endParaRPr lang="zh-CN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278EA7-9AB5-34AE-1F49-83730CACE8CA}"/>
              </a:ext>
            </a:extLst>
          </p:cNvPr>
          <p:cNvSpPr txBox="1"/>
          <p:nvPr/>
        </p:nvSpPr>
        <p:spPr>
          <a:xfrm>
            <a:off x="6499819" y="5031449"/>
            <a:ext cx="222084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New land surface models, e.g.,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Noah-MP-PHS</a:t>
            </a:r>
          </a:p>
        </p:txBody>
      </p:sp>
    </p:spTree>
    <p:extLst>
      <p:ext uri="{BB962C8B-B14F-4D97-AF65-F5344CB8AC3E}">
        <p14:creationId xmlns:p14="http://schemas.microsoft.com/office/powerpoint/2010/main" val="1903555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1180</TotalTime>
  <Words>592</Words>
  <Application>Microsoft Macintosh PowerPoint</Application>
  <PresentationFormat>Widescreen</PresentationFormat>
  <Paragraphs>33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Koutian</dc:creator>
  <cp:lastModifiedBy>Koutian Wu</cp:lastModifiedBy>
  <cp:revision>24</cp:revision>
  <dcterms:created xsi:type="dcterms:W3CDTF">2024-08-21T15:19:40Z</dcterms:created>
  <dcterms:modified xsi:type="dcterms:W3CDTF">2025-12-09T07:39:13Z</dcterms:modified>
</cp:coreProperties>
</file>